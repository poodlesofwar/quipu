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1" r:id="rId5"/>
    <p:sldId id="260" r:id="rId6"/>
    <p:sldId id="272" r:id="rId7"/>
    <p:sldId id="262" r:id="rId8"/>
    <p:sldId id="263" r:id="rId9"/>
    <p:sldId id="264" r:id="rId10"/>
    <p:sldId id="273" r:id="rId11"/>
    <p:sldId id="265" r:id="rId12"/>
    <p:sldId id="266" r:id="rId13"/>
    <p:sldId id="267" r:id="rId14"/>
    <p:sldId id="269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EAFFB-7184-4FAC-A6FB-4C46A2DA8130}" type="datetimeFigureOut">
              <a:rPr lang="en-US" smtClean="0"/>
              <a:pPr/>
              <a:t>11/6/2014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0C485D-1ABC-4CE5-9541-E7E0FBF79E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CEAFFB-7184-4FAC-A6FB-4C46A2DA8130}" type="datetimeFigureOut">
              <a:rPr lang="en-US" smtClean="0"/>
              <a:pPr/>
              <a:t>11/6/2014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A30C485D-1ABC-4CE5-9541-E7E0FBF79E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EAFFB-7184-4FAC-A6FB-4C46A2DA8130}" type="datetimeFigureOut">
              <a:rPr lang="en-US" smtClean="0"/>
              <a:pPr/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485D-1ABC-4CE5-9541-E7E0FBF79E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EAFFB-7184-4FAC-A6FB-4C46A2DA8130}" type="datetimeFigureOut">
              <a:rPr lang="en-US" smtClean="0"/>
              <a:pPr/>
              <a:t>11/6/2014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485D-1ABC-4CE5-9541-E7E0FBF79E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485D-1ABC-4CE5-9541-E7E0FBF79E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EAFFB-7184-4FAC-A6FB-4C46A2DA8130}" type="datetimeFigureOut">
              <a:rPr lang="en-US" smtClean="0"/>
              <a:pPr/>
              <a:t>11/6/2014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EAFFB-7184-4FAC-A6FB-4C46A2DA8130}" type="datetimeFigureOut">
              <a:rPr lang="en-US" smtClean="0"/>
              <a:pPr/>
              <a:t>11/6/2014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485D-1ABC-4CE5-9541-E7E0FBF79E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EAFFB-7184-4FAC-A6FB-4C46A2DA8130}" type="datetimeFigureOut">
              <a:rPr lang="en-US" smtClean="0"/>
              <a:pPr/>
              <a:t>11/6/2014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485D-1ABC-4CE5-9541-E7E0FBF79E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CEAFFB-7184-4FAC-A6FB-4C46A2DA8130}" type="datetimeFigureOut">
              <a:rPr lang="en-US" smtClean="0"/>
              <a:pPr/>
              <a:t>11/6/2014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30C485D-1ABC-4CE5-9541-E7E0FBF79E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EAFFB-7184-4FAC-A6FB-4C46A2DA8130}" type="datetimeFigureOut">
              <a:rPr lang="en-US" smtClean="0"/>
              <a:pPr/>
              <a:t>11/6/2014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0C485D-1ABC-4CE5-9541-E7E0FBF79E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EAFFB-7184-4FAC-A6FB-4C46A2DA8130}" type="datetimeFigureOut">
              <a:rPr lang="en-US" smtClean="0"/>
              <a:pPr/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485D-1ABC-4CE5-9541-E7E0FBF79E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EAFFB-7184-4FAC-A6FB-4C46A2DA8130}" type="datetimeFigureOut">
              <a:rPr lang="en-US" smtClean="0"/>
              <a:pPr/>
              <a:t>11/6/2014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485D-1ABC-4CE5-9541-E7E0FBF79E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5CEAFFB-7184-4FAC-A6FB-4C46A2DA8130}" type="datetimeFigureOut">
              <a:rPr lang="en-US" smtClean="0"/>
              <a:pPr/>
              <a:t>11/6/2014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A30C485D-1ABC-4CE5-9541-E7E0FBF79E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u.army.mil/alog/issues/JanFeb06/gun_trucks.html" TargetMode="External"/><Relationship Id="rId2" Type="http://schemas.openxmlformats.org/officeDocument/2006/relationships/hyperlink" Target="http://www.alu.army.mil/alog/issues/JulAug03/gun_trucks.ht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2LT </a:t>
            </a:r>
            <a:r>
              <a:rPr lang="en-US" dirty="0" err="1" smtClean="0"/>
              <a:t>Gard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905000"/>
            <a:ext cx="7772400" cy="1470025"/>
          </a:xfrm>
        </p:spPr>
        <p:txBody>
          <a:bodyPr/>
          <a:lstStyle/>
          <a:p>
            <a:r>
              <a:rPr lang="en-US" dirty="0" smtClean="0"/>
              <a:t>Gun Trucks of Vietnam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10000" y="2286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Remain Adaptable and Innovative</a:t>
            </a:r>
          </a:p>
          <a:p>
            <a:r>
              <a:rPr lang="en-US" dirty="0" smtClean="0"/>
              <a:t>History </a:t>
            </a:r>
            <a:r>
              <a:rPr lang="en-US" dirty="0" smtClean="0"/>
              <a:t>Repeats </a:t>
            </a:r>
            <a:r>
              <a:rPr lang="en-US" dirty="0" smtClean="0"/>
              <a:t>Itself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 and Scope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  <p:sp>
        <p:nvSpPr>
          <p:cNvPr id="24578" name="AutoShape 2" descr="data:image/jpeg;base64,/9j/4AAQSkZJRgABAQAAAQABAAD/2wCEAAkGBxMSEhUUExQWFhUXFxoXGBgXGBcXHBcaFBQWFxQaGBcYHSggGBolHBQUITEhJSkrLi4uFx8zODMsNygtLiwBCgoKDg0NFA8PFCwZFBksLCwrLCwsKyssLCssLDc3LDcrLDcsLCwsNysrLCwsKywsLDcrKywrKysrKywrKyssK//AABEIALsBDQMBIgACEQEDEQH/xAAcAAABBQEBAQAAAAAAAAAAAAAFAgMEBgcAAQj/xABCEAABAwIEAwUGAwYFAgcAAAABAAIRAyEEBRIxBkFREyJhcaEyUoGRsdEVQsEHFCNy4fAzYnOy8YKSFiRDU2Oiw//EABYBAQEBAAAAAAAAAAAAAAAAAAABAv/EABYRAQEBAAAAAAAAAAAAAAAAAAARAf/aAAwDAQACEQMRAD8A3FcuXIOXLlyDkNzY/wATD/6v/wCb0SQzOPbw/wDrD/Y9ATXLlyDly5cg5cuXIOXLlyDkOq5norCnUYWtdApv3DjFwfdKIobXrgVCQ72Y1h20RIc3xFkBJQM1xwpsMOAcbBBcdxQZIpgRycd/OECqYonvOuTeSgmYjGOd7TyfMqHUrJl8mOSZq1INkEunX6p0YodAhL3EiV6x0+SAw2s08gF5TeCYMfRD6dQj4ogCCJI2QPPogbFKw8A+KZdThsxzXjasezZBJc28rhKWSS2YuvGMsgU1ydY5MOCUwohw4g8kpj1GdupFFqKca2V60QngEkBQETmsT3XRMDu/1UapxAAHdx4jbu/1Rp5gbT4KtZzhcXWNu6wcgRPxvdB6zigx/huny/qlM4lcSP4Tojod/miWUYZzGAPBJ6mCp1Rp5GEAvCZ0Xe1SePJv9V5xHVLewI37Zv8AtcijdXNB+ImQcPE/4w+hQEcTiXBpLGku5CCvGYp2kahDuilubtf+q4tCCDTxbrTE9IO/mlUcwEHWQCOQupBa1BM1pPBHZUdUm5mNvI3QRMz4mq7UaLhy1OHqAl5TxFWJDKtF1zGpoj5gothaRc0a26T06KV+7gbJQ5WrtYJcYCCYzihrZ003uPKRpCKaSDEC/OUoYYeCUUytxNiC8EQ0e7FvjN1OwtSpVmo53en2Rt7I5I/issY8Q4D4WKHMy1zXPLb3Fj/KEAaplZfcNLZ5AC3zKh4vAOpiTPS4H3Ks9XC6z3tXwJH0SaWBDDu507B0mEoozq5dtNkhsneRfotCdhmmQWADyQ6vhdJsAR5IKq1h/wAxHkplHDatg4fBWvDMBtYHwU+kwAQISil1MvcAHcpheNB2hXl1IE32+SW+gCNglFOBJEFpShhgCLG/LorlSpADaEp0dJQVzL8Nqd35Ai3ilYvDhh5wdgncyquD5BdcbdLpdCs8wHBpHjyQCq1O0hM0iSj+JpsAkBvigeKxEGyoUKRKfwx5FR6OK1GEQpAE/qg9Dilaiue2LJ7DttdQG1y8BXmpUKXJGsJWpB6gfFD47D/XZ+qMGoqzxbWk0PCs39VKLSCkuqBDxiyExWxZ3/u6AmKy9FcIP+9SvDi4UBc1gvTWQU4nnsmxjJlAbOJC4YgTZA3V45p2libKg326j0sSNT7cx/tChtxCj08T33+Y/wBqA6KoSXFvT5IY3FJ1lcFQSwwN2kz4ynQ0EXgqEKvilit0QOVKDDu0T5LxtFjW27vxKreccY0KLX/xGOe38mq5I3Hmqliv2rHanQH/AFu/QBUalSYSLO+aXpf4fCQqZwNxacY14qaQ9p9ls+ydj81dqL5CDtZ5t9ZTRaN9JUmV6kA5rJqGR+UeKdcGcwAU8G98+Q+pQTEZ3RbihQGkkNJcTyNtIk877KDzHYeo42b3fqo34aTu0qTUzrCvqGkagDmjUYdAF4IkHcdEUy9zAO64OB5yDKorbcvcD3bqRhmw4Ag/BWZ4HMJDcKzcABANxLR+W58k5hsOYvMqcMK268ZQI5oIWMzNtFrnvPdbufj9UAxXHOGA1NcTNogzvuZQjiLirtmVKRpWMgHVsZsYVVwVOmSe7PcdMwbxII6JBoNPjWg5ji14Dx7IdbV80Zw2c0nNb/EZMX7wKxvB4Z+kmBocIJgEjyRAYXCUgDU7eT00i/zskGpY3NWMY52ppgTEi6q+ZZwzEsovbIArNEFVPMMTSb3GB41RJcWuIjpBso+Go63QXwB4Hl4JBqb8a2P+EziavQrLxSfPtepV44exmpgaRMCJIP16qifRxExqcBHivcRmDG7EFAMZWbrdcC+yiYjFDSRqG3980BOtxGyTMmB1bfyupuGzmiWg62ieRIn4rLMXXMGJJ8EMq44tu7tR8ig1XNOJGNnsyHEIVg89rPOkVILjaadhPjOyz1udtN9bh4aZT/8A4guIePMjZBptetmLXd0scOZ7vxsSgb+JsW17hLZm8CdlUXZ5Nu1+o/VRa+akOMXH8xug2jLM8p1GAucGugSDa/PdSK+eUGN1Go34OBPyWKMz8CZpkyI9s28pCcwubUBvRdPXX/RBrlLiyk5wABjaUZOZU/eCxqlxHTbtTPxcl1+KXEQwBp6kk/okE/iLAYduIq0m03l1YB1NwuGmZcRz07qNiOAa1MaqlWm0EwNzPTlZDfxvEahWD26qbS1vUB3gU4/irFObDy0jxI5+aA7wThThj2wfdwLY5b2PorYzOsRvL9+Qssyw2eVGCNLCBt3gimB4ofIaXMZJ5SeXgg27BZhqY1x5hTP3tqyDE8UvpNDmVW1B0uDB2slYPjx7p1PDLW7pMnpbZSDSque0A9ze0AdGnyN/6LOsXkwdhH16jyHOquNSpu4NY4gaR4mEExXEJJL+45xM21cuaYr8QVH0DQ1AMNzI5l2o380AfNcorUHk6XlpNjuTI1SQNpBlP5DiHdsxutze8OZajzONMQAACyAI2PK3RRcVxa54io1hNiDpuCDyOlUa9geJqBAaahJAgkgxIHVT2ZzRN+0aI3E/3KxfAcQNvqO5nb+iJjOaMaZIHg2/zSC/43ivS4imwOaOZMeilYLiLW2TTM+BWfUMzo7AuJPUf1VoyunIPw/VBUcxyeqyoA4sAcT3pslsospl38RgIERB5+e6ZzbOn1XBr4IabQ0BQsw1SXaZaYMkCdrCyB0V9DIa9pA5RfdCczx7qkagPCFIptFR8NAAie8egvcBD8UzuyDedoI+XVB5Ost7ziTa5mOkKfRqhlR2okwYKD0jeykU6pAJsZ6oChxFPVql0dIT9LH0wIL6rf5Tb5IIMQ42AbfwXVar23IEeSCViBRJJ7SoQdu6J+PeULDMbqAOog9BdPYehUeJDmAnZpgE+VkTyamA1zi1xqBpIjkdhsEAfA1tLnh2HdVOnuwSNPiQN0OxOPeW+wRBMm9x4oxh69cPfLnNc5ukk7hpN91Kx2I/gOZazYEDwhBSMTXc8QWs8Dpg/NQ3UCN1pGIy9pphsCdIiwMEKs8StbpZ3Q11w6BzCCtFiQSU+2jzlSaYpH23EGeQBt90EEVj5p6nieqfqtowdJfPKQI+PqodRFT6ddp5p1BypWCrkOAJsVaicXGCuokmAnXARZN4Z0OHgVRMxtJob3QhhJF+nojOYVO7GmDF/G+6G0LapHtCPUGfRQScAx9V4awSXWhTcTldamXage7Bd4TYSk8OiK9KJ9sXVkyFut2Ja7Z5DL9SXR6gJoAVcuqsLWuaQXmG+JmP1TuIyisymajhDQ4s35jdW5tHXU0O3pVGPHkWjV6tSMfodRqU9ff7PtNMWHf1zPW6grtfh+pTaHa2u9nU0GS3VtI+Kfr8OsD9DqwMNcX6RJbpEwiAH/manTsmz8mR6qVhq1GriajSzQA14eQZLpIE+CCv4Ph9nahprtAcAWEgguDvDkiOKyzD0qZca+o3DQATLm7jbxUevLsZTZGltN7WNG9mm3z3TmZ4aKLR/wDNU/RAnIu/WptF5cPqtgyzKyAZBG0THisl4Son97ogR7Y9FutCYuR8kGE0n0nPdJLRyJ6zfkmqmLLnuc2wm3lsPRO1MNT1OHe+U3+aa/c/dDo8R9kErK6DqmokgAC5UvHYo1W9n2YIDe64NuCOhHUJTsDUbhg2NOtwveTPgpGSvw1IinV1m+4LoBjcgWQVyrk72Uu1LXRMdCPEjoolGkXkNa0lx5LShwbRrDUyvUc3oXW8rqM/g+lT/K4+Tx+iCi4LCkVCxwh1wJ6xZe4vDVG03BzTYgnnCu4yPCNPeaf/ALuTr3YFoLWu8xpJ+coKPRwRqdm5jm7ARNwR4KyjCvpaiwOl1xJESAZB8OaUMww1J006YiN4AM+Y2CjZ3xMwsIYwi1iTseoi6Csfihr1ajnhrSIbAPu7wkYwW8JH1CF18IJLut/JQ3vAP5h80F8dUHI2VR4vqaqg29n9UxTzWoz2XEjxuoWNr9o7U6JMDoqEVSCwQAIn47KLUw95lSCV6APFBDDbrx42UsADkvKsSLW6KKHletMGVzt16VAapmQEyBBITHaHQIPgpDY6LQkVKjnbr1rQm21T7qepvnkEQY4fFFr9dSpo0EECCZvfZSsTmNKk5/YFztT2P1ERBaSSPVBSyAIT7WEqAs/iM9vUqsbZ7dMHlYXTFLNT2zqjmyHNLNPgWwFCaTMWUkt2ugm4rOZaNNPS46dTrnVoiB4CwSK2cOeSRSawlpa4ie9qgk+dlF7MnmuYCgK5fmUVO1qU9boEXiC3n52RKtnTKjCwYdomYJdMF25VYLt7p/C9TJ6CUBPLQ6hVbUa5hLTMXPh02WzZJiX1KLH1G6XESR9FiLKp1DkLWFluOUvBos/lH0QAKTKQaIpiYv3Qn3VGACGx8AodN7Ox1moAWxIPOenihGIxQPemRO8jdBKz7Civoa17WlrpOqeipGa4plKppZWbUc2fZbYeZJuVZcVUN45hY9joZpLXHUS/V4EOt6IL6zi2tSbsHDp7N/gnqXFGLfsxjR4ys5ZjnmIMqViMXWNnPPkUGjP4nDR36rZ6NEqpcQ5+2rUBYDYb7T8lXS9x5+i87In8yomVc0fFio5zV5Tb6A6lMGkPFFS3Yt55qPUeTuvWMC8qABVEYjxSmja6brv6JbDtKgclKCbK9a5FKcUhz90shJfT2QQ37r1rUmboi2kNIPgoGcORpjxROk1CaQuUSpkgk7iAgkmE2zdJNbwSqbpKomxYJ9hUYO7vxSmVFESW7qQ/YKHTen6lSQIQPNMLmNumQ4nZSqDT0QR30yXFTqNNenAuLiQCpVDLKu4B+aB3A0Wl7Q6wnktkymmW0mg8gB8gsow2Bf8AmgXFudvgtYyqoXUmEjdoQZZihQvNR7r7ckNGIk949wfE/HqrbSwOEq1HsYGl7DDhJHyTmLymhSEuY1o6m/1QUTMeIn0nsIaHN0gaTMOAJkzyOyo2I7znHa5MdJWi8TMpOLWjSWAS3TtfyVExlENcYdI8OSuAcwFjgRuCCPhspdfF6jLt9k3UamqzCUUvUE6zVyH0SP3eLSlPq6B9PFBz6b94STRf0XpzB3QeqaqYxx6BB72LhyThw5Ki/vTuq4Yh/VEKrYYpRpxEpLazjuSpU6x/mHqgivYvNBTjAnNKKaanB5LxzfJcCOoQQCy5U24b8FHLe95qS6k+PaspgjN9oonSFp6+PRC6oIIg3SWtlAepUGnol9jTG7h80GqENjyHqlUYcgMdvSaImfK69pZgzm0whww87BK/dj0RBV2Pp8h6L2lmDTbSULp0E6yxgIDtHGj3fVGMlY6vVZTAABNz4c1WaIKO5JjXUajXgTpM3QazS4aoloGmI6TPx6qVS4coD8pPxKr2WcctJAqM0jqDPorrh6we0OaZBEg+agh08loD8g+MlT6bABAEAbBer1UY5Vy4U6jjqIfP+IwwfPoUCzbC4h7gwvfUA2JJi+/OyufFHDVRmqtSqdxgJDYJJPTxQasztGsE6dRbJ6Sgp5p1KRI2+cKBiASSTC0LE5FWZoDawcHuDWgzu4E3BFtkBzTIa7nNilJPNgEH5WQVWlR1OuiP4a0gwbn5hEXcK4mmNb6Lw3rE/RAq+MeJAtffnZUNYrD6DJ6bobUrgmSnsTUc43Mpv92nwQN06mpLFMxsnaOHjeyk0i3qUUNLJTjKdlPr4bVtCGtcQSJRC+zSGPMyvKjjyTTaLlAU7FjxrE+InZeNw7eh+ZUbBYd0ujp+qlmuYuFVJrYdoFgFBedPJEtUhRKlGT/fVAvAUO0dfYBEDgh09UrK6MOKJuoKIDswveAgRJ5dEqtQA2aLoloDXCT1TL6kz0i3h4oANakSeVgB8giGW4Od006jLreH0CL0RpbbfYIpqqI7oEpLGnmnXPDYtJTtCrNnAR4BER61CRIseYTNBg3RJ1HSY/uFBezSSPFBLwbZKKYdpd5KDhGWlT3tIAY3coJzKAiw9ZPor1wLnRJ7B5kR3D5clnWHa6m+OYR/KnaK7HDk5p+Zug1xcuXIGKmGB3koPnHC1GvvLTG4j1CPrlBmGdcKuwjO1bVloIMXaZm2yCv4nriQCLiB4K8ftKxEUWM950/9o/qsrqlUadw7mnb0KcmXA6XXuYFkzxVwnTxNFx0tFVoJa4CDbkeoWeZbmT6FQOaYg3HIrVMpzkVwB1H/ACoMIZgoJlOdlF0WzuiGV6gGwe76lDpuOiojswGoy6RPIJ6vkjQ2QSESbVgCIk+i97TeHaiLEHxQVsUHtdB/5Vo4Q4IpY7tA55ZUbBbFwWneyG41lxCuX7LawbiXSQB2ZmfMJosuQ/sywlBv8Qdq483Cw8ggvF37M9Tu0wjWgR3mTF/8s/RaQ/NaLd6jB/1BRKvEuEG9ZnzUHz+cA+k97HtLXCxB8wkty8m0+i2DPMXlNZwfV0ueObQZPnG6F1c9yxns4fV5j7lWjMauVu5Jo5RV35LTa3G2Hb/hYNg84/QIbj+Oaj2loo0Q08i3V9UFLw9M0nCSDabFO4jFkm1gmsUZcXBobPJtgPIKO9rigfe4uiSlNFlHDHdU/SBAjqgbp0TqRFwIDbdVEYLqbJjyQD6lBxqydrfRPDVrMDu/3KJ06HaREAi1+fS6l0sFou+PLmUA3EuMjyChVLuNuas+S5ccTiGMA3dJ/lFz6BE+M+EXYd5q02zScZt+TwPh4oKzhAdO3T6ohWplrg7w9QouDfyPNG8HXaRpdBPQ80EWjSc98nc/ojmU0dVdgHNzR02N0gOAEABs81auDMrP+M4QIhnjO5QW1cuXIPCUxWx1NntPaPiFQn13O9t7j8fuoFY+KAz+0TF0K2HBZUl7HS2BO+4Ky41+qtlSHAtJ3+vJBM8yh1KHQYInyKAQ6oJV14VzTQ1utpjafoqNCs/DbdYJM6WCSgEZ6x/bvNRpa4kmIix29ELAgo5nWJdVe55PgPIWH0QZ6BbalgOYSqTNLpI33lMaRzSpja3ndAuu7U5LY/TdR23KlGlZAk4hcKkrwUURybKTiKgpggTzOyAYXFJLyr/iP2cVg2WPY89Lg+qq+NyipSdpqMLXdCI/5QBSSvS0ogcGeiWzAuP5UAzsSuFAoyzL3dE83K3FADFBedgUeblBm6lMylvNBVezKdpOOxVrZkzE+3KqXuygqtJ5aeoTprk2AVzwmRNd7NGfgSjOG4Uf/wC2xvnE+iCiZd29Ml1IuaTaRZFK2IxtUaXVHkcxMfRaBl/DLR/iXPIAopSyqi3Zg+N/qgxxnDdUmyK4XhLFOtpt1Mhay2mBsAPIJSCk5HwY5rw6uWuA/KCT5XV1a0AQLAL1cg5cuXIM1qUrpk0QouIxb539B9kwcW/r6D7IJwoiURrgPaJva6r1TGvAJDoI8B9l7lmYVXNkuJM84KB2vgKIcNbQGnwV/wCGMBRbRikxuh3kS7zWVZti3moJPoFouTY57aLACAI5Nb9kFe4y4Q7Lv0tTmuJkR7PPlyVHrZRUmzStixOY1dDu9yPJvTyVOq4lzqYcYk89LR9AgpIymt7idZkVY7gD4o+7FPnf0CT+9vGx9B9kA7D8PEbkKWzJgNylOxj+voPsvP3t/X0H2QODKGAEmbXTmT5s2jUENsOY3PmUvNMW8YRoBjU7vWF46mFWe3d19Ag3DCZhLWvtpMRe8eIU7Mcup126XjyPMeSxbL83rwG9odIBgW6g9Fp+FzOqWNl3Icm9PJBVsyy8UqhY7ceG/QqM1gGytWL/AIjw54DjESQE5ThuzWf9jfsgqbaRcYawnyCIYXhzEP8A/T0/zWViZjnjYgeTWj9Ev8Sq+96N+yAdh+DnH23geQlT2cH0QLuefkP0SvxKr73o37LvxKr73o37IHqXC+HHJx8z9kQoZZRZ7NNo+E+pQn8Sq+96N+y78Sq+96N+yCwAL1V78Sq+96N+y78Sq+96N+yCwrlXvxKr73o37LvxKr73o37ILCuVe/Eqvvejfsu/EqvvejfsgsK5V78Sq+96N+y78Sq+96N+yCwrlXvxKr73o37LvxKr73o37IP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invaderII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00400" y="3008910"/>
            <a:ext cx="3933825" cy="2734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Origin</a:t>
            </a:r>
          </a:p>
          <a:p>
            <a:r>
              <a:rPr lang="en-US" dirty="0" smtClean="0"/>
              <a:t>Evolution of the Gun Truck</a:t>
            </a:r>
          </a:p>
          <a:p>
            <a:r>
              <a:rPr lang="en-US" dirty="0" smtClean="0"/>
              <a:t>Gun Truck Doctrine</a:t>
            </a:r>
          </a:p>
          <a:p>
            <a:r>
              <a:rPr lang="en-US" dirty="0" smtClean="0"/>
              <a:t>Effectiveness</a:t>
            </a:r>
          </a:p>
          <a:p>
            <a:r>
              <a:rPr lang="en-US" dirty="0" smtClean="0"/>
              <a:t>Summary</a:t>
            </a:r>
          </a:p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hlinkClick r:id="rId2"/>
              </a:rPr>
              <a:t>http://www.alu.army.mil/alog/issues/JulAug03/gun_trucks.htm</a:t>
            </a:r>
            <a:r>
              <a:rPr lang="en-US" dirty="0" smtClean="0"/>
              <a:t>  - Gun Trucks: A Vietnam Innovation Returns</a:t>
            </a:r>
          </a:p>
          <a:p>
            <a:r>
              <a:rPr lang="en-US" dirty="0" smtClean="0">
                <a:hlinkClick r:id="rId3"/>
              </a:rPr>
              <a:t>http://www.alu.army.mil/alog/issues/JanFeb06/gun_trucks.html</a:t>
            </a:r>
            <a:r>
              <a:rPr lang="en-US" dirty="0" smtClean="0"/>
              <a:t>  -  Gun Trucks: Genuine Examples of American Ingenuity</a:t>
            </a:r>
          </a:p>
          <a:p>
            <a:r>
              <a:rPr lang="en-US" dirty="0" smtClean="0"/>
              <a:t>Convoy Ambush Case Studies: Volume I - Korea and Vietnam           </a:t>
            </a:r>
          </a:p>
          <a:p>
            <a:pPr>
              <a:buNone/>
            </a:pPr>
            <a:r>
              <a:rPr lang="en-US" dirty="0" smtClean="0"/>
              <a:t>Author: Richard </a:t>
            </a:r>
            <a:r>
              <a:rPr lang="en-US" dirty="0" err="1" smtClean="0"/>
              <a:t>Killblaine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Army’s 8</a:t>
            </a:r>
            <a:r>
              <a:rPr lang="en-US" baseline="30000" dirty="0" smtClean="0"/>
              <a:t>th</a:t>
            </a:r>
            <a:r>
              <a:rPr lang="en-US" dirty="0" smtClean="0"/>
              <a:t> Transportation Group</a:t>
            </a:r>
          </a:p>
          <a:p>
            <a:pPr lvl="1"/>
            <a:r>
              <a:rPr lang="en-US" dirty="0" smtClean="0"/>
              <a:t>HQ at Qui </a:t>
            </a:r>
            <a:r>
              <a:rPr lang="en-US" dirty="0" err="1" smtClean="0"/>
              <a:t>Nhon</a:t>
            </a:r>
            <a:r>
              <a:rPr lang="en-US" dirty="0" smtClean="0"/>
              <a:t>, Vietnam</a:t>
            </a:r>
          </a:p>
          <a:p>
            <a:r>
              <a:rPr lang="en-US" dirty="0" smtClean="0"/>
              <a:t>Came about due to NVA and Vietcong ambushes along Route 19</a:t>
            </a:r>
          </a:p>
          <a:p>
            <a:pPr lvl="1"/>
            <a:r>
              <a:rPr lang="en-US" dirty="0" smtClean="0"/>
              <a:t>An </a:t>
            </a:r>
            <a:r>
              <a:rPr lang="en-US" dirty="0" err="1" smtClean="0"/>
              <a:t>Khe</a:t>
            </a:r>
            <a:r>
              <a:rPr lang="en-US" dirty="0" smtClean="0"/>
              <a:t> to </a:t>
            </a:r>
            <a:r>
              <a:rPr lang="en-US" dirty="0" err="1" smtClean="0"/>
              <a:t>Pleiku</a:t>
            </a:r>
            <a:endParaRPr lang="en-US" dirty="0" smtClean="0"/>
          </a:p>
          <a:p>
            <a:pPr lvl="1"/>
            <a:r>
              <a:rPr lang="en-US" dirty="0" smtClean="0"/>
              <a:t>2 September 1967, Major ambush about 1/2mi long kill zone which destroyed all but 7 vehicles and 7 Americans were KIA after 10 minutes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 of the Gun Truck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Content Placeholder 11" descr="convoy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8422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Convoy security was previously a military police or combat arms job</a:t>
            </a:r>
          </a:p>
          <a:p>
            <a:pPr lvl="1"/>
            <a:r>
              <a:rPr lang="en-US" dirty="0" smtClean="0"/>
              <a:t>Jeeps or Task Vehicles with a single machinegun</a:t>
            </a:r>
          </a:p>
          <a:p>
            <a:r>
              <a:rPr lang="en-US" dirty="0" smtClean="0"/>
              <a:t>8</a:t>
            </a:r>
            <a:r>
              <a:rPr lang="en-US" baseline="30000" dirty="0" smtClean="0"/>
              <a:t>th</a:t>
            </a:r>
            <a:r>
              <a:rPr lang="en-US" dirty="0" smtClean="0"/>
              <a:t> Group recognized importance of dedicated fire-power for convoy protection</a:t>
            </a:r>
          </a:p>
          <a:p>
            <a:pPr lvl="1"/>
            <a:r>
              <a:rPr lang="en-US" dirty="0" smtClean="0"/>
              <a:t>Used a 2 1/2 –ton cargo truck and mounted two M60 machineguns on it</a:t>
            </a:r>
          </a:p>
          <a:p>
            <a:pPr lvl="1"/>
            <a:r>
              <a:rPr lang="en-US" dirty="0" smtClean="0"/>
              <a:t>Filled sandbag boxes to protect the gunner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 ½-ton Cargo Trucks</a:t>
            </a:r>
          </a:p>
          <a:p>
            <a:pPr lvl="1"/>
            <a:r>
              <a:rPr lang="en-US" dirty="0" smtClean="0"/>
              <a:t>Two M60s with sandbags along sides and floor of truck bed</a:t>
            </a:r>
          </a:p>
          <a:p>
            <a:pPr lvl="1"/>
            <a:r>
              <a:rPr lang="en-US" dirty="0" smtClean="0"/>
              <a:t>Eventually replaced sandbags with fabricated steel plates</a:t>
            </a:r>
          </a:p>
          <a:p>
            <a:pPr lvl="1"/>
            <a:r>
              <a:rPr lang="en-US" dirty="0" smtClean="0"/>
              <a:t>Lacked sufficient power for maneuvering</a:t>
            </a:r>
          </a:p>
          <a:p>
            <a:pPr lvl="2"/>
            <a:r>
              <a:rPr lang="en-US" dirty="0" smtClean="0"/>
              <a:t>Extra weight also caused transmissions and engines to fail quicker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the Gun Truck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5 –</a:t>
            </a:r>
            <a:r>
              <a:rPr lang="en-US" dirty="0" smtClean="0"/>
              <a:t>Ton </a:t>
            </a:r>
            <a:r>
              <a:rPr lang="en-US" smtClean="0"/>
              <a:t>Cargo Truck</a:t>
            </a:r>
            <a:endParaRPr lang="en-US" dirty="0" smtClean="0"/>
          </a:p>
          <a:p>
            <a:pPr lvl="1"/>
            <a:r>
              <a:rPr lang="en-US" dirty="0" smtClean="0"/>
              <a:t>Fabricated steel plating</a:t>
            </a:r>
          </a:p>
          <a:p>
            <a:pPr lvl="1"/>
            <a:r>
              <a:rPr lang="en-US" dirty="0" smtClean="0"/>
              <a:t>Use of mounted .50-caliber machineguns and “</a:t>
            </a:r>
            <a:r>
              <a:rPr lang="en-US" dirty="0" err="1" smtClean="0"/>
              <a:t>minicannons</a:t>
            </a:r>
            <a:r>
              <a:rPr lang="en-US" dirty="0" smtClean="0"/>
              <a:t>” along with grenade launchers</a:t>
            </a:r>
          </a:p>
          <a:p>
            <a:pPr lvl="1"/>
            <a:r>
              <a:rPr lang="en-US" dirty="0" smtClean="0"/>
              <a:t>Names painted on the sides</a:t>
            </a:r>
          </a:p>
          <a:p>
            <a:pPr lvl="2"/>
            <a:r>
              <a:rPr lang="en-US" dirty="0" smtClean="0"/>
              <a:t>i.e. “The Untouchable,” “Outlaw”</a:t>
            </a:r>
          </a:p>
          <a:p>
            <a:pPr lvl="1"/>
            <a:r>
              <a:rPr lang="en-US" dirty="0" smtClean="0"/>
              <a:t>Able to better handle the additional weight of the armor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the Gun Truck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766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5to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81400" y="3581400"/>
            <a:ext cx="5285089" cy="3048000"/>
          </a:xfrm>
          <a:prstGeom prst="rect">
            <a:avLst/>
          </a:prstGeom>
        </p:spPr>
      </p:pic>
      <p:pic>
        <p:nvPicPr>
          <p:cNvPr id="5" name="Picture 4" descr="2.5to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799" y="228600"/>
            <a:ext cx="4498383" cy="3276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3581400"/>
            <a:ext cx="982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2.5- Ton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781800" y="3124200"/>
            <a:ext cx="757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5-Ton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Effectively provided convoy security from late 1967 until American forces withdrew in 1973</a:t>
            </a:r>
          </a:p>
          <a:p>
            <a:pPr lvl="1"/>
            <a:r>
              <a:rPr lang="en-US" dirty="0" smtClean="0"/>
              <a:t>Estimates total between 300-400 Gun Trucks</a:t>
            </a:r>
          </a:p>
          <a:p>
            <a:r>
              <a:rPr lang="en-US" dirty="0" smtClean="0"/>
              <a:t>Gun truck deployment in convoys usually followed a 1:10 ratio</a:t>
            </a:r>
          </a:p>
          <a:p>
            <a:r>
              <a:rPr lang="en-US" dirty="0" smtClean="0"/>
              <a:t>Allowed for the creation of smaller elements</a:t>
            </a:r>
          </a:p>
          <a:p>
            <a:pPr lvl="1"/>
            <a:r>
              <a:rPr lang="en-US" dirty="0" smtClean="0"/>
              <a:t>All convoys had a radio-equipped gun Jeep in lead</a:t>
            </a:r>
          </a:p>
          <a:p>
            <a:r>
              <a:rPr lang="en-US" dirty="0" smtClean="0"/>
              <a:t>Gun Jeep led convoy, a Gun Truck in the middle, and a third Gun Truck was with wrecker in the rear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Gun Truck Doctrine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Gun Trucks were trained not to drive into a kill zone to attack the enemy</a:t>
            </a:r>
          </a:p>
          <a:p>
            <a:pPr lvl="1"/>
            <a:r>
              <a:rPr lang="en-US" dirty="0" smtClean="0"/>
              <a:t>Provided suppressive fire on the enemy</a:t>
            </a:r>
          </a:p>
          <a:p>
            <a:pPr lvl="1"/>
            <a:r>
              <a:rPr lang="en-US" dirty="0" smtClean="0"/>
              <a:t>Security teams from nearest check-points swept the enemy from the area</a:t>
            </a:r>
          </a:p>
          <a:p>
            <a:r>
              <a:rPr lang="en-US" dirty="0" smtClean="0"/>
              <a:t>Attacked the enemy flanks</a:t>
            </a:r>
          </a:p>
          <a:p>
            <a:pPr lvl="1"/>
            <a:r>
              <a:rPr lang="en-US" dirty="0" smtClean="0"/>
              <a:t>Provided cover fire for convoy consolidation and reorganization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Gun Truck Doctrine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24 November 1967</a:t>
            </a:r>
          </a:p>
          <a:p>
            <a:pPr lvl="1"/>
            <a:r>
              <a:rPr lang="en-US" dirty="0" smtClean="0"/>
              <a:t>70 vehicle convoy attacked by NVA in a 1000m kill-zone</a:t>
            </a:r>
          </a:p>
          <a:p>
            <a:pPr lvl="1"/>
            <a:r>
              <a:rPr lang="en-US" dirty="0" smtClean="0"/>
              <a:t>14 trucks lost and 2 American KIAs</a:t>
            </a:r>
          </a:p>
          <a:p>
            <a:pPr lvl="1"/>
            <a:r>
              <a:rPr lang="en-US" dirty="0" smtClean="0"/>
              <a:t>41 NVA KIA and 4 captured</a:t>
            </a:r>
          </a:p>
          <a:p>
            <a:r>
              <a:rPr lang="en-US" dirty="0" smtClean="0"/>
              <a:t>December 1967</a:t>
            </a:r>
          </a:p>
          <a:p>
            <a:pPr lvl="1"/>
            <a:r>
              <a:rPr lang="en-US" dirty="0" smtClean="0"/>
              <a:t>80 vehicle convoy in a 15 minute battle</a:t>
            </a:r>
          </a:p>
          <a:p>
            <a:pPr lvl="1"/>
            <a:r>
              <a:rPr lang="en-US" dirty="0" smtClean="0"/>
              <a:t>13 Enemy KIA</a:t>
            </a:r>
          </a:p>
          <a:p>
            <a:pPr lvl="1"/>
            <a:r>
              <a:rPr lang="en-US" dirty="0" smtClean="0"/>
              <a:t>1 American KIA and 6 American Wounded</a:t>
            </a:r>
          </a:p>
          <a:p>
            <a:r>
              <a:rPr lang="en-US" dirty="0" smtClean="0"/>
              <a:t>“These 8</a:t>
            </a:r>
            <a:r>
              <a:rPr lang="en-US" baseline="30000" dirty="0" smtClean="0"/>
              <a:t>th</a:t>
            </a:r>
            <a:r>
              <a:rPr lang="en-US" dirty="0" smtClean="0"/>
              <a:t> Group truckers are the unsung heroes of this war.”</a:t>
            </a:r>
          </a:p>
          <a:p>
            <a:pPr lvl="1"/>
            <a:r>
              <a:rPr lang="en-US" dirty="0" smtClean="0"/>
              <a:t>Lieutenant General William B. </a:t>
            </a:r>
            <a:r>
              <a:rPr lang="en-US" dirty="0" err="1" smtClean="0"/>
              <a:t>Rosson</a:t>
            </a:r>
            <a:r>
              <a:rPr lang="en-US" dirty="0" smtClean="0"/>
              <a:t>, commander of I Field Force, Vietnam</a:t>
            </a:r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Effectiveness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Gun Trucks developed due to need for improved convoy security</a:t>
            </a:r>
          </a:p>
          <a:p>
            <a:pPr lvl="1"/>
            <a:r>
              <a:rPr lang="en-US" dirty="0" smtClean="0"/>
              <a:t>Previously, security tasked to Combat Arms or MP units</a:t>
            </a:r>
          </a:p>
          <a:p>
            <a:r>
              <a:rPr lang="en-US" dirty="0" smtClean="0"/>
              <a:t>Once incorporated, Gun Trucks completely changed convoy doctrine</a:t>
            </a:r>
          </a:p>
          <a:p>
            <a:r>
              <a:rPr lang="en-US" dirty="0" smtClean="0"/>
              <a:t>Gun Trucks gave convoys the ability to push through attacks and complete their mission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362200"/>
            <a:ext cx="8229600" cy="1143000"/>
          </a:xfrm>
        </p:spPr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6172200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UNCLASSIFIED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164</TotalTime>
  <Words>524</Words>
  <Application>Microsoft Office PowerPoint</Application>
  <PresentationFormat>On-screen Show (4:3)</PresentationFormat>
  <Paragraphs>88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Paper</vt:lpstr>
      <vt:lpstr>Gun Trucks of Vietnam</vt:lpstr>
      <vt:lpstr>Purpose and Scope</vt:lpstr>
      <vt:lpstr>Outline</vt:lpstr>
      <vt:lpstr>References</vt:lpstr>
      <vt:lpstr>Origin of the Gun Truck</vt:lpstr>
      <vt:lpstr>Slide 6</vt:lpstr>
      <vt:lpstr>Origins</vt:lpstr>
      <vt:lpstr>Evolution of the Gun Truck</vt:lpstr>
      <vt:lpstr>Evolution of the Gun Truck</vt:lpstr>
      <vt:lpstr>Slide 10</vt:lpstr>
      <vt:lpstr>Gun Truck Doctrine</vt:lpstr>
      <vt:lpstr>Gun Truck Doctrine</vt:lpstr>
      <vt:lpstr>Effectiveness</vt:lpstr>
      <vt:lpstr>Summary</vt:lpstr>
      <vt:lpstr>Questions?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THOR</dc:creator>
  <cp:lastModifiedBy>THOR</cp:lastModifiedBy>
  <cp:revision>18</cp:revision>
  <dcterms:created xsi:type="dcterms:W3CDTF">2014-11-05T01:47:03Z</dcterms:created>
  <dcterms:modified xsi:type="dcterms:W3CDTF">2014-11-07T01:40:29Z</dcterms:modified>
</cp:coreProperties>
</file>